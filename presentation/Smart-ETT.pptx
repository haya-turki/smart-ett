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0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02A"/>
                </a:solidFill>
                <a:latin typeface="Arial"/>
              </a:rPr>
              <a:t>Where cuff pressure actually sits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Cuff pressure readings</c:v>
                </c:pt>
              </c:strCache>
            </c:strRef>
          </c:tx>
          <c:spPr>
            <a:solidFill>
              <a:srgbClr val="B23A2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0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23A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89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7A2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Below range</c:v>
                  </c:pt>
                  <c:pt idx="1">
                    <c:v>In range</c:v>
                  </c:pt>
                  <c:pt idx="2">
                    <c:v>Above range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41.5</c:v>
                </c:pt>
                <c:pt idx="2">
                  <c:v>5.5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20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D5E2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ETT — نظام مراقبة الأنبوب الحنجري. Our line: why treat what we can prevent? A respiratory-therapy and biomedical-engineering team from Riyadh, with a working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numbers: one in four ventilated patients gets VAP, each episode costs about forty thousand dollars, and the culture takes two to three days. Meanwhile the cuff — the one thing we do measure — is in range less than half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path: open the unit, the critical patients sort to the top, open a patient, tick suction and recalibrate, record — the risk drops from 78 to 42 percent and the unit counter falls 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sell to the people who already own the VAP rate. The pilot is free and needs no integration, so the decision is small; the report from that pilot is what unlocks the hospital and then the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complementary, not a replacement. Manometers give a number, controllers hold it, bundles audit compliance, panels identify organisms in the lab. None of them tell the nurse at the bedside what this patient needs in the next hour.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respiratory therapists who do this assessment every shift, and a biomedical engineer who builds the device side. The clinical judgement and the build capability are both inside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691640"/>
            <a:ext cx="42062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deck/img/logo-tag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57400"/>
            <a:ext cx="3566160" cy="2331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783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ETT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623560" y="27889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DA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treat what we can prevent?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623560" y="3703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A8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Bedside intelligence for every intubated patient — cuff pressure, secretions and infection risk in one screen, before the culture comes back.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62356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1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Riyadh, Saudi Arabia  ·  Working prototype,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945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pic>
        <p:nvPicPr>
          <p:cNvPr id="3" name="Image 0" descr="/home/claude/deck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4048"/>
            <a:ext cx="566928" cy="6718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5029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tube is checked. The risk is not.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3258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ventilated patient is watched minute by minute — yet the tube itself is judged by feel, and infection is confirmed only after the lab replies.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" y="228600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E2E9"/>
            </a:solidFill>
            <a:prstDash val="solid"/>
          </a:ln>
          <a:effectLst>
            <a:outerShdw sx="100000" sy="100000" kx="0" ky="0" algn="bl" rotWithShape="0" blurRad="152400" dist="25400" dir="5400000">
              <a:srgbClr val="0B2B33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86968" y="245059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10–25%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312724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ventilated patients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VAP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926080" y="228600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E2E9"/>
            </a:solidFill>
            <a:prstDash val="solid"/>
          </a:ln>
          <a:effectLst>
            <a:outerShdw sx="100000" sy="100000" kx="0" ky="0" algn="bl" rotWithShape="0" blurRad="152400" dist="25400" dir="5400000">
              <a:srgbClr val="0B2B33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127248" y="245059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7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$40,144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127248" y="312724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 cost of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VAP episode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66360" y="2286000"/>
            <a:ext cx="20116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5E2E9"/>
            </a:solidFill>
            <a:prstDash val="solid"/>
          </a:ln>
          <a:effectLst>
            <a:outerShdw sx="100000" sy="100000" kx="0" ky="0" algn="bl" rotWithShape="0" blurRad="152400" dist="25400" dir="5400000">
              <a:srgbClr val="0B2B33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367528" y="245059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8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48–72 h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5367528" y="3127248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culture results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back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4343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one number nurses do record is usually wrong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754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re-measurement of 2,120 cuff readings in one ICU: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513892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43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in 10 readings sit where the protocol says they should — the tube is being managed blind.</a:t>
            </a:r>
            <a:endParaRPr lang="en-US" sz="13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452360" y="1965960"/>
          <a:ext cx="40690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685800" y="63276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VAP incidence, Int. J. Critical Care Medicine · cost per episode, J. Thoracic Disease · culture turnaround 48–72 h · cuff audit of 2,120 readings, Critical Care (2015).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945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pic>
        <p:nvPicPr>
          <p:cNvPr id="3" name="Image 0" descr="/home/claude/deck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4048"/>
            <a:ext cx="566928" cy="6718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45720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tube now.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wait for the lab.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85800" y="1810512"/>
            <a:ext cx="457200" cy="457200"/>
          </a:xfrm>
          <a:prstGeom prst="ellipse">
            <a:avLst/>
          </a:prstGeom>
          <a:solidFill>
            <a:srgbClr val="4C89A8"/>
          </a:solidFill>
          <a:ln w="12700">
            <a:solidFill>
              <a:srgbClr val="4C89A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739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in 30 seconds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15798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 pressure, secretion amount, colour and texture, temperature and saturation — entered at the bedside during routine suctioning.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4C89A8"/>
          </a:solidFill>
          <a:ln w="12700">
            <a:solidFill>
              <a:srgbClr val="4C89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31638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before the culture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54787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inputs become an infection probability and a ranked list of the organisms most likely behind it, weighted by the unit’s own resistance pattern.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85800" y="4590288"/>
            <a:ext cx="457200" cy="457200"/>
          </a:xfrm>
          <a:prstGeom prst="ellipse">
            <a:avLst/>
          </a:prstGeom>
          <a:solidFill>
            <a:srgbClr val="B23A2F"/>
          </a:solidFill>
          <a:ln w="12700">
            <a:solidFill>
              <a:srgbClr val="B23A2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5537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Act, and record it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49377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ends in a short task list — suction, recalibrate, send a culture, notify. One tap records it and the whole unit view updates.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85800" y="5806440"/>
            <a:ext cx="5669280" cy="566928"/>
          </a:xfrm>
          <a:prstGeom prst="roundRect">
            <a:avLst>
              <a:gd name="adj" fmla="val 19355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58064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 ·  works on any phone or browser  ·  no new hardware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629400" y="1051560"/>
            <a:ext cx="5074920" cy="5166360"/>
          </a:xfrm>
          <a:prstGeom prst="roundRect">
            <a:avLst>
              <a:gd name="adj" fmla="val 3604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pic>
        <p:nvPicPr>
          <p:cNvPr id="20" name="Image 1" descr="/home/claude/deck/img/screen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25880"/>
            <a:ext cx="2011680" cy="3913632"/>
          </a:xfrm>
          <a:prstGeom prst="rect">
            <a:avLst/>
          </a:prstGeom>
        </p:spPr>
      </p:pic>
      <p:pic>
        <p:nvPicPr>
          <p:cNvPr id="21" name="Image 2" descr="/home/claude/deck/img/screen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737360"/>
            <a:ext cx="2011680" cy="39136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675120" y="5349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view — who needs you first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9006840" y="5779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view — risk, organisms, actions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945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pic>
        <p:nvPicPr>
          <p:cNvPr id="3" name="Image 0" descr="/home/claude/deck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4048"/>
            <a:ext cx="566928" cy="6718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5029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serve, and how we reach them.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85800" y="1463040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2E9"/>
            </a:solidFill>
            <a:prstDash val="solid"/>
          </a:ln>
          <a:effectLst>
            <a:outerShdw sx="100000" sy="100000" kx="0" ky="0" algn="bl" rotWithShape="0" blurRad="152400" dist="25400" dir="5400000">
              <a:srgbClr val="0B2B33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847088"/>
            <a:ext cx="502920" cy="502920"/>
          </a:xfrm>
          <a:prstGeom prst="ellipse">
            <a:avLst/>
          </a:prstGeom>
          <a:solidFill>
            <a:srgbClr val="4C89A8"/>
          </a:solidFill>
          <a:ln w="12700">
            <a:solidFill>
              <a:srgbClr val="4C89A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6824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 and paediatric ICUs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02996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therapy and ICU nursing — the daily users. 12–30 ventilated beds per hospital.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944368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2E9"/>
            </a:solidFill>
            <a:prstDash val="solid"/>
          </a:ln>
          <a:effectLst>
            <a:outerShdw sx="100000" sy="100000" kx="0" ky="0" algn="bl" rotWithShape="0" blurRad="152400" dist="25400" dir="5400000">
              <a:srgbClr val="0B2B33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3328416"/>
            <a:ext cx="502920" cy="502920"/>
          </a:xfrm>
          <a:prstGeom prst="ellipse">
            <a:avLst/>
          </a:prstGeom>
          <a:solidFill>
            <a:srgbClr val="7FB0C6"/>
          </a:solidFill>
          <a:ln w="12700">
            <a:solidFill>
              <a:srgbClr val="7FB0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3328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600200" y="31638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Infection control committees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351129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own the VAP rate, sign the pilot, and hold the budget line for prevention.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85800" y="4425696"/>
            <a:ext cx="52578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5E2E9"/>
            </a:solidFill>
            <a:prstDash val="solid"/>
          </a:ln>
          <a:effectLst>
            <a:outerShdw sx="100000" sy="100000" kx="0" ky="0" algn="bl" rotWithShape="0" blurRad="152400" dist="25400" dir="5400000">
              <a:srgbClr val="0B2B33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4809744"/>
            <a:ext cx="502920" cy="502920"/>
          </a:xfrm>
          <a:prstGeom prst="ellipse">
            <a:avLst/>
          </a:prstGeom>
          <a:solidFill>
            <a:srgbClr val="B27A22"/>
          </a:solidFill>
          <a:ln w="12700">
            <a:solidFill>
              <a:srgbClr val="B27A2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14400" y="4809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4645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groups and health clusters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499262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groups and MoH clusters buy once and deploy across every ICU they run.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355080" y="1463040"/>
            <a:ext cx="5120640" cy="4242816"/>
          </a:xfrm>
          <a:prstGeom prst="roundRect">
            <a:avLst>
              <a:gd name="adj" fmla="val 2586"/>
            </a:avLst>
          </a:prstGeom>
          <a:solidFill>
            <a:srgbClr val="16202A"/>
          </a:solidFill>
          <a:ln w="12700">
            <a:solidFill>
              <a:srgbClr val="16202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75120" y="1691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get in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6675120" y="2240280"/>
            <a:ext cx="347472" cy="347472"/>
          </a:xfrm>
          <a:prstGeom prst="ellipse">
            <a:avLst/>
          </a:prstGeom>
          <a:solidFill>
            <a:srgbClr val="7FB0C6"/>
          </a:solidFill>
          <a:ln w="12700">
            <a:solidFill>
              <a:srgbClr val="7FB0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178040" y="2194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pilot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178040" y="249631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8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adult ICU. Free, no integration, phones only.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675120" y="3081528"/>
            <a:ext cx="347472" cy="347472"/>
          </a:xfrm>
          <a:prstGeom prst="ellipse">
            <a:avLst/>
          </a:prstGeom>
          <a:solidFill>
            <a:srgbClr val="7FB0C6"/>
          </a:solidFill>
          <a:ln w="12700">
            <a:solidFill>
              <a:srgbClr val="7FB0C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75120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178040" y="30358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numbers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3337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8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 compliance and VAP rate before vs after, to infection control.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675120" y="3922776"/>
            <a:ext cx="347472" cy="347472"/>
          </a:xfrm>
          <a:prstGeom prst="ellipse">
            <a:avLst/>
          </a:prstGeom>
          <a:solidFill>
            <a:srgbClr val="7FB0C6"/>
          </a:solidFill>
          <a:ln w="12700">
            <a:solidFill>
              <a:srgbClr val="7FB0C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75120" y="3922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178040" y="38770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licence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178040" y="41788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8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ventilated bed, per year, once the committee has the report.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675120" y="4764024"/>
            <a:ext cx="347472" cy="347472"/>
          </a:xfrm>
          <a:prstGeom prst="ellipse">
            <a:avLst/>
          </a:prstGeom>
          <a:solidFill>
            <a:srgbClr val="B23A2F"/>
          </a:solidFill>
          <a:ln w="12700">
            <a:solidFill>
              <a:srgbClr val="B23A2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75120" y="4764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7178040" y="471830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rollout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7178040" y="502005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8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evidence pack carried into group and MoH tenders.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685800" y="58704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points: respiratory therapy departments, ICU nursing directors, infection control committees, and national health-innovation programmes.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1945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8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</a:t>
            </a:r>
            <a:endParaRPr lang="en-US" sz="1200" dirty="0"/>
          </a:p>
        </p:txBody>
      </p:sp>
      <p:pic>
        <p:nvPicPr>
          <p:cNvPr id="3" name="Image 0" descr="/home/claude/deck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4048"/>
            <a:ext cx="566928" cy="67181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5029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measures a piece. We connect them.</a:t>
            </a:r>
            <a:endParaRPr lang="en-US" sz="3000" dirty="0"/>
          </a:p>
        </p:txBody>
      </p:sp>
      <p:pic>
        <p:nvPicPr>
          <p:cNvPr id="5" name="Image 1" descr="/home/claude/deck/img/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675120" cy="474573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498080" y="1463040"/>
            <a:ext cx="4023360" cy="4224528"/>
          </a:xfrm>
          <a:prstGeom prst="roundRect">
            <a:avLst>
              <a:gd name="adj" fmla="val 2727"/>
            </a:avLst>
          </a:prstGeom>
          <a:solidFill>
            <a:srgbClr val="F4F8FA"/>
          </a:solidFill>
          <a:ln w="12700">
            <a:solidFill>
              <a:srgbClr val="F4F8F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0" y="16642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edge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7772400" y="2194560"/>
            <a:ext cx="274320" cy="274320"/>
          </a:xfrm>
          <a:prstGeom prst="ellipse">
            <a:avLst/>
          </a:prstGeom>
          <a:solidFill>
            <a:srgbClr val="4C89A8"/>
          </a:solidFill>
          <a:ln w="12700">
            <a:solidFill>
              <a:srgbClr val="4C89A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18388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picture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183880" y="243230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Cuff, secretions and patient factors read together — the combination is what predicts infection, not any single reading.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772400" y="3063240"/>
            <a:ext cx="274320" cy="274320"/>
          </a:xfrm>
          <a:prstGeom prst="ellipse">
            <a:avLst/>
          </a:prstGeom>
          <a:solidFill>
            <a:srgbClr val="4C89A8"/>
          </a:solidFill>
          <a:ln w="12700">
            <a:solidFill>
              <a:srgbClr val="4C89A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8183880" y="3017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shows its work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8183880" y="330098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lists the factors behind it, so a nurse can agree or overrule it.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772400" y="3931920"/>
            <a:ext cx="274320" cy="274320"/>
          </a:xfrm>
          <a:prstGeom prst="ellipse">
            <a:avLst/>
          </a:prstGeom>
          <a:solidFill>
            <a:srgbClr val="4C89A8"/>
          </a:solidFill>
          <a:ln w="12700">
            <a:solidFill>
              <a:srgbClr val="4C89A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18388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ends in an action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183880" y="416966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tasks with a time limit, recorded in one tap — not another alarm.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772400" y="4800600"/>
            <a:ext cx="274320" cy="274320"/>
          </a:xfrm>
          <a:prstGeom prst="ellipse">
            <a:avLst/>
          </a:prstGeom>
          <a:solidFill>
            <a:srgbClr val="4C89A8"/>
          </a:solidFill>
          <a:ln w="12700">
            <a:solidFill>
              <a:srgbClr val="4C89A8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77240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18388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new to buy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8183880" y="50383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phones and manometers the unit already owns.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685800" y="614476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Manometers, cuff controllers, EMR bundles and molecular panels each solve one part well. Smart ETT sits on top of them and turns their data into a decision at the bedside.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57200"/>
            <a:ext cx="10515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deck/img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1632" y="603504"/>
            <a:ext cx="640080" cy="7589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10515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Clinicians and an engineer, building for the bedside they work at.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85800" y="2514600"/>
            <a:ext cx="3383280" cy="2468880"/>
          </a:xfrm>
          <a:prstGeom prst="roundRect">
            <a:avLst>
              <a:gd name="adj" fmla="val 5556"/>
            </a:avLst>
          </a:prstGeom>
          <a:solidFill>
            <a:srgbClr val="24313D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51560" y="2834640"/>
            <a:ext cx="914400" cy="914400"/>
          </a:xfrm>
          <a:prstGeom prst="ellipse">
            <a:avLst/>
          </a:prstGeom>
          <a:solidFill>
            <a:srgbClr val="7FB0C6"/>
          </a:solidFill>
          <a:ln w="12700">
            <a:solidFill>
              <a:srgbClr val="7FB0C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5156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Alharthi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Therapy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80560" y="2514600"/>
            <a:ext cx="3383280" cy="2468880"/>
          </a:xfrm>
          <a:prstGeom prst="roundRect">
            <a:avLst>
              <a:gd name="adj" fmla="val 5556"/>
            </a:avLst>
          </a:prstGeom>
          <a:solidFill>
            <a:srgbClr val="24313D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46320" y="2834640"/>
            <a:ext cx="914400" cy="914400"/>
          </a:xfrm>
          <a:prstGeom prst="ellipse">
            <a:avLst/>
          </a:prstGeom>
          <a:solidFill>
            <a:srgbClr val="4C89A8"/>
          </a:solidFill>
          <a:ln w="12700">
            <a:solidFill>
              <a:srgbClr val="4C89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 Almuhimed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Therapy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75320" y="2514600"/>
            <a:ext cx="3383280" cy="2468880"/>
          </a:xfrm>
          <a:prstGeom prst="roundRect">
            <a:avLst>
              <a:gd name="adj" fmla="val 5556"/>
            </a:avLst>
          </a:prstGeom>
          <a:solidFill>
            <a:srgbClr val="24313D"/>
          </a:solidFill>
          <a:ln w="12700">
            <a:solidFill>
              <a:srgbClr val="33465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41080" y="2834640"/>
            <a:ext cx="914400" cy="914400"/>
          </a:xfrm>
          <a:prstGeom prst="ellipse">
            <a:avLst/>
          </a:prstGeom>
          <a:solidFill>
            <a:srgbClr val="B9D3DF"/>
          </a:solidFill>
          <a:ln w="12700">
            <a:solidFill>
              <a:srgbClr val="B9D3D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41080" y="2834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864108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Haya Alsufiyan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8641080" y="4315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D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Engineering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ETT  ·  Why treat what we can prevent?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ETT</dc:title>
  <dc:subject>PptxGenJS Presentation</dc:subject>
  <dc:creator>Smart ETT</dc:creator>
  <cp:lastModifiedBy>Smart ETT</cp:lastModifiedBy>
  <cp:revision>1</cp:revision>
  <dcterms:created xsi:type="dcterms:W3CDTF">2026-09-09T17:38:59Z</dcterms:created>
  <dcterms:modified xsi:type="dcterms:W3CDTF">2026-09-09T17:38:59Z</dcterms:modified>
</cp:coreProperties>
</file>